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731520"/>
            <a:ext cx="8046720" cy="54864"/>
          </a:xfrm>
          <a:prstGeom prst="rect">
            <a:avLst/>
          </a:prstGeom>
          <a:solidFill>
            <a:srgbClr val="A8DAD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IoT: Detecting Room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Occupancy Using Environmental Sensors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0" y="2377440"/>
            <a:ext cx="3657600" cy="36576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Anu Bhukya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9E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University of Hertfordshire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9E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MSc Data Science  |  January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github.com/anu-bhukya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Introduction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530352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Background &amp;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buildings rely on IoT sensors to optimise energy use — HVAC systems account for ~40% of commercial building energy. Accurate occupancy detection enables demand-driven climate control, reducing energy waste in unoccupied spaces.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This project investigates whether environmental sensor data (temperature, humidity, light, CO2, humidity ratio) can reliably predict room occupancy using machine learning, achieving production-ready accuracy for automated building management systems.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1089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50876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RQ1: Which ML algorithm most effectively predicts room occupancy from environmental sensor data?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RQ2: Can models trained on daytime data generalise effectively to nighttime occupancy patterns?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RQ3: How do environmental sensors contribute to occupancy prediction through non-linear relationships? (SHAP analysis)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Goal: Develop a production-ready occupancy detection system using IoT sensor fusion with &gt;99% accuracy, interpretable via SHAP, and robust to temporal shifts and sensor failures.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Previous Work &amp; 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Occupancy Detection Literature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Candanedo and Feldheim (2016) established the benchmark UCI Occupancy dataset, demonstrating that Light and CO2 are dominant occupancy indicators using statistical learning models.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Subsequent studies validated ensemble methods (Random Forest, Gradient Boosting) as superior to linear classifiers for multi-sensor occupancy prediction in smart buildings.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Methodological Foundations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Friedman (2001) — Gradient Boosting Machines for sequential error correction in classification tasks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Lundberg and Lee (2017) — SHAP framework for unified model interpretability and feature attribution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Pedregosa et al. (2011) — scikit-learn ecosystem for standardised ML pipeline development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Cover and Hart (1967) — KNN theory for instance-based non-parametric classification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 Gap &amp; This Project's Contribution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Most existing studies focus on single-building, daytime-only evaluation. This project extends the analysis to: (1) temporal generalisation — testing daytime-trained models on nighttime data, (2) sensor failure resilience — evaluating model robustness when the dominant Light sensor is removed, and (3) SHAP-based non-linear relationship analysis to understand how individual sensors contribute to occupancy prediction through complex interactions.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Methodology &amp; Approach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Type: Linear probabilistic classifier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Role: Baseline model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Fast training (0.11s)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Highly interpretable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Strong recall (99.32%)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Limitations: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Cannot capture non-linear sensor interactions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Lower precision (94.98%)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Gradient Boosting 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Type: Ensemble tree-based boosting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Role: Primary non-linear model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Best F1 score (98.43%)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Captures non-linearity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Interpretable via SHAP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Excellent precision (98.11%)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Limitations: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Longer training (3.87s)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Type: Instance-based non-parametric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Role: Comparative non-linear model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Highest accuracy (99.39%)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Fast inference (0.02s)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Simple algorithm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Limitations: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Less interpretable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Memory-intensive at scale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Lower F1 than GB (98.56%)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Pipeline: Data Loading → Cleaning → Feature Engineering (hour, day_of_week, is_weekend) → StandardScaler → 80/20 Stratified Split → GridSearchCV (5-fold, F1 scoring) → Model Evaluation → SHAP Explainability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572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572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Specifications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Property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Value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Source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UCI ML Repository — Occupancy Detection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Training Records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8,143 (80/20 → 6,514 train / 1,629 test)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Sensor Features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Temperature, Humidity, Light, CO2, HumidityRatio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Engineered Features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Hour, Day_of_Week, Is_Weekend (3 temporal)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Total Features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 (5 sensor + 3 temporal)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Target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Occupancy (Binary: 0=Empty, 1=Occupied)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Date Range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February 2015 (minute-level readings)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Missing Values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 (complete dataset)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10515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029200" y="1051560"/>
            <a:ext cx="38404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212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Class Distribution</a:t>
            </a:r>
            <a:endParaRPr lang="en-US" sz="1300" dirty="0"/>
          </a:p>
        </p:txBody>
      </p:sp>
      <p:pic>
        <p:nvPicPr>
          <p:cNvPr id="12" name="Image 0" descr="/Users/zahoorkhan/Desktop/Jan-2025 DS UOH/ Semester-3 all Projects/Project By Faizan/53. Anu Bhukya/3. Presentation Part/Plots/plot_01_Occupancy_Distribution_0Empty_1Occup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233" y="1508760"/>
            <a:ext cx="1981534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33756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274320" y="333756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Sensor Data Description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IoT sensors record minute-level environmental readings: Temperature (°C), Humidity (% RH), Light (Lux), CO2 (ppm), and HumidityRatio. Light and CO2 show strongest class separation — occupied rooms have ~400-500 Lux and ~700-800 ppm CO2 vs ~100-200 Lux and ~400-500 ppm when empty. Moderate class imbalance addressed via stratified sampling. Three temporal features engineered from timestamps for temporal pattern capture.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Ethical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&amp; Surveillance Concerns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Occupancy detection could reveal sensitive work patterns and location tracking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Real-time sensor data collection requires informed consent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Historical occupancy data may expose personal routines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Risk of function creep — monitoring expanding beyond energy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Recommended Mitigations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Data anonymisation — no linking sensor data to individuals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Access controls — restrict occupancy data to authorised personnel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Time-based retention policies for historical data deletion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Transparent communication to building occupants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Opt-out mechanisms for individuals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Fairness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Different building types may yield varying model performance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Seasonal variations could cause model degradation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Cross-building and cross-user-group validation recommended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Differential privacy and federated learning for enhanced protection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Energy Efficiency Benefits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Positive ethical outcome: Accurate occupancy detection enables smart HVAC control, reducing energy consumption and carbon footprint. Low error rates (Type I: 1.89%, Type II: 1.20%) minimise discomfort. Manual override capability recommended as failsafe for occupants.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Occupancy Distribution</a:t>
            </a:r>
            <a:endParaRPr lang="en-US" sz="1200" dirty="0"/>
          </a:p>
        </p:txBody>
      </p:sp>
      <p:pic>
        <p:nvPicPr>
          <p:cNvPr id="8" name="Image 0" descr="/Users/zahoorkhan/Desktop/Jan-2025 DS UOH/ Semester-3 all Projects/Project By Faizan/53. Anu Bhukya/3. Presentation Part/Plots/plot_02_Occupancy_Distribution_0Empty_1Occup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1396" y="1417320"/>
            <a:ext cx="1560647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105156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105156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Box Plots by Occupancy</a:t>
            </a:r>
            <a:endParaRPr lang="en-US" sz="1200" dirty="0"/>
          </a:p>
        </p:txBody>
      </p:sp>
      <p:pic>
        <p:nvPicPr>
          <p:cNvPr id="12" name="Image 1" descr="/Users/zahoorkhan/Desktop/Jan-2025 DS UOH/ Semester-3 all Projects/Project By Faizan/53. Anu Bhukya/3. Presentation Part/Plots/plot_0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89369" y="1417320"/>
            <a:ext cx="2062941" cy="137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274320" y="306324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5720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Light vs CO2 Scatter</a:t>
            </a:r>
            <a:endParaRPr lang="en-US" sz="1200" dirty="0"/>
          </a:p>
        </p:txBody>
      </p:sp>
      <p:pic>
        <p:nvPicPr>
          <p:cNvPr id="16" name="Image 2" descr="/Users/zahoorkhan/Desktop/Jan-2025 DS UOH/ Semester-3 all Projects/Project By Faizan/53. Anu Bhukya/3. Presentation Part/Plots/plot_04_Scatter_Plot_Light_vs_CO2_Colored_by_Occupanc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90741" y="3429000"/>
            <a:ext cx="1881958" cy="11887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572000" y="306324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572000" y="306324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475488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EDA Insights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54880" y="34290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Light &amp; CO2 are dominant class separators — clear clustering between occupied and unoccupied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Occupied: ~400-500 Lux, ~700-800 ppm CO2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Unoccupied: ~100-200 Lux, ~400-500 ppm CO2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Moderate class imbalance present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Non-linear relationships evident in scatter plots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Temperature &amp; Humidity show weak discrimination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Pre-processing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Processing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Data Loading — 3 CSV files (training + 2 test sets)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Cleaning — Dropped unnamed index columns, converted date strings to datetime, confirmed 0 missing values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Feature Engineering: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Hour (0-23) from datetime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Day_of_Week (0-6)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Is_Weekend (binary: 1 if Sat/Sun)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Feature Scaling — StandardScaler (z-score)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Fitted on training data ONLY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Applied to both train and test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Columns: Temp, Humidity, Light, CO2, HumidityRatio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No imputation needed (complete dataset)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Train-Test Split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Parameter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Value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Split Ratio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80% train / 20% test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Training Samples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6,514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Test Samples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1,629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Stratification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Yes (maintains class ratio)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Random State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42 (reproducibility)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0" y="2880360"/>
            <a:ext cx="4297680" cy="914400"/>
          </a:xfrm>
          <a:prstGeom prst="roundRect">
            <a:avLst>
              <a:gd name="adj" fmla="val 10000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Leakage Prevention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200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StandardScaler fitted ONLY on training data; test data transformed using training statistics. Ensures realistic evaluation on unseen data.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397764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74320" y="397764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 Feature Set: 8 features — Temperature (scaled), Humidity (scaled), Light (scaled), CO2 (scaled), HumidityRatio (scaled), Hour (0-23), Day_of_Week (0-6), Is_Weekend (0/1)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Models Used &amp;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Linear probabilistic classifier serving as the baseline model.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Grid Search Space: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C: [0.1, 1, 10]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solver: ['lbfgs', 'liblinear']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Total: 6 combos × 5 folds = 30 fits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Best: C=0.1, solver=lbfgs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Rationale: Strong regularisation (low C) reduces overfitting and provides generalisable baseline.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Gradient Boosting 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Ensemble tree-based boosting — selected as primary model.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Grid Search Space: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n_estimators: [50, 100]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learning_rate: [0.05, 0.1]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max_depth: [3, 5]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Total: 8 combos × 5 folds = 40 fits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Best: n_est=50, lr=0.05, depth=5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Rationale: Slow learning with moderate tree complexity; captures non-linear sensor interactions.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Instance-based non-parametric classifier.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Grid Search Space: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n_neighbors: [3, 5, 11]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weights: ['uniform', 'distance']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Total: 6 combos × 5 folds = 30 fits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Best: n_neighbors=3, weights=distance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Rationale: 3 neighbours provides local approximation; distance weighting emphasises closer neighbours.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4320" y="397764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models optimised via GridSearchCV with 5-fold stratified CV and F1 scoring metric. Parallel processing (n_jobs=-1) enabled for faster search. Total: 100 model fits across all algorithms.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50292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 Model Comparison (After Tuning)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Accuracy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Precision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Recall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F1 Score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Logistic Regression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0.9871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0.9498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0.9932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0.9705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Gradient Boosting ★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0.9932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0.9811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0.9880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0.9843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KNN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0.9939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0.9689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0.9827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0.9758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05156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0" y="1051560"/>
            <a:ext cx="33832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Confusion Matrix / ROC</a:t>
            </a:r>
            <a:endParaRPr lang="en-US" sz="1200" dirty="0"/>
          </a:p>
        </p:txBody>
      </p:sp>
      <p:pic>
        <p:nvPicPr>
          <p:cNvPr id="12" name="Image 0" descr="/Users/zahoorkhan/Desktop/Jan-2025 DS UOH/ Semester-3 all Projects/Project By Faizan/53. Anu Bhukya/3. Presentation Part/Plots/plot_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17320"/>
            <a:ext cx="3017520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24612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274320" y="324612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ROC Curve</a:t>
            </a:r>
            <a:endParaRPr lang="en-US" sz="1200" dirty="0"/>
          </a:p>
        </p:txBody>
      </p:sp>
      <p:pic>
        <p:nvPicPr>
          <p:cNvPr id="16" name="Image 1" descr="/Users/zahoorkhan/Desktop/Jan-2025 DS UOH/ Semester-3 all Projects/Project By Faizan/53. Anu Bhukya/3. Presentation Part/Plots/plot_0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90418" y="3611880"/>
            <a:ext cx="1682603" cy="10058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572000" y="324612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4754880" y="329184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Winner: Gradient Boosting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Accuracy: 99.32% | F1: 98.43%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Precision: 98.11% (only 1.89% false alarms)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Recall: 98.80% (misses only 1.20%)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ROC-AUC: ~0.99 (exceptional)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Best precision-recall balance of all models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Selected for SHAP interpretability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Hyperparameter Tuning &amp; Cross-Validation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572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Grid Search Best Results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24688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Best F1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Best Params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LogReg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0.9705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C=0.1, solver=lbfgs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GB ★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0.9843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n_est=50, lr=0.05, depth=5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KNN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0.9856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k=3, weights=distance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9E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Training Time: LR 4.23s | GB 3.87s | KNN 5.12s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0" y="10515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29200" y="1051560"/>
            <a:ext cx="38404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212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5-Fold CV: Gradient Boosting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0876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Metric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Mean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Std Dev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Accuracy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0.9934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±0.0022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Precision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0.9811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±0.0061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Recall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0.9880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±0.0058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F1 Score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0.9845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±0.0046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063240"/>
            <a:ext cx="8595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274320" y="306324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5-Fold CV Comparison — All Models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  <a:gridCol w="1463040"/>
                <a:gridCol w="146304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CV Acc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CV Prec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CV Recall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CV F1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Stability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LogReg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0.9875±0.0015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0.9498±0.0113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0.9932±0.0049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0.9709±0.0048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Good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GB ★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0.9934±0.0022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0.9811±0.0061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0.9880±0.0058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0.9845±0.0046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Best ★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KNN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0.9897±0.0022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0.9689±0.0056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0.9827±0.0081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0.9758±0.0054</a:t>
                      </a:r>
                      <a:endParaRPr lang="en-US" sz="8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Good</a:t>
                      </a:r>
                      <a:endParaRPr lang="en-US" sz="8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Analysis &amp; Feature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38912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Feature Importance (GB)</a:t>
            </a:r>
            <a:endParaRPr lang="en-US" sz="1200" dirty="0"/>
          </a:p>
        </p:txBody>
      </p:sp>
      <p:pic>
        <p:nvPicPr>
          <p:cNvPr id="8" name="Image 0" descr="/Users/zahoorkhan/Desktop/Jan-2025 DS UOH/ Semester-3 all Projects/Project By Faizan/53. Anu Bhukya/3. Presentation Part/Plots/plot_09_Feature_Importance_Which_sensor_is_domin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402336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0515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846320" y="1051560"/>
            <a:ext cx="4023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SHAP Dependence — CO2</a:t>
            </a:r>
            <a:endParaRPr lang="en-US" sz="1200" dirty="0"/>
          </a:p>
        </p:txBody>
      </p:sp>
      <p:pic>
        <p:nvPicPr>
          <p:cNvPr id="12" name="Image 1" descr="/Users/zahoorkhan/Desktop/Jan-2025 DS UOH/ Semester-3 all Projects/Project By Faizan/53. Anu Bhukya/3. Presentation Part/Plots/plot_11_RQ3_SHAP_Dependence_Plot_for_CO2_Leve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034" y="1417320"/>
            <a:ext cx="1619931" cy="137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06324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274320" y="3063240"/>
            <a:ext cx="438912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5720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Temporal Generalisation (RQ2)</a:t>
            </a:r>
            <a:endParaRPr lang="en-US" sz="1200" dirty="0"/>
          </a:p>
        </p:txBody>
      </p:sp>
      <p:pic>
        <p:nvPicPr>
          <p:cNvPr id="16" name="Image 2" descr="/Users/zahoorkhan/Desktop/Jan-2025 DS UOH/ Semester-3 all Projects/Project By Faizan/53. Anu Bhukya/3. Presentation Part/Plots/plot_10_RQ2_Model_Generalization_across_Time_of_Da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91034" y="3429000"/>
            <a:ext cx="1555692" cy="11887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4632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846320" y="3063240"/>
            <a:ext cx="4023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50292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Analysis Findings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Feature Dominance: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Light: 55-60% importance (primary)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CO2: 25-30% (secondary)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HumidityRatio: 8-12%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Temp/Humidity/Temporal: &lt;5% each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Sensor Failure Resilience: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Without Light: F1 drops only 1.02% (0.9843→0.9743)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CO2 compensates effectively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Temporal (RQ2):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Day accuracy: 99.60%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Night accuracy: 99.72% (generalises well!)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Summary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Gradient Boosting achieves 99.32% accuracy and 98.43% F1 — production-ready performance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Light sensor dominates (55-60% importance) with CO2 as effective backup (25-30%)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Model generalises from daytime to nighttime with 99.72% accuracy — no retraining needed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SHAP confirms non-linear CO2 dependence (RQ3) — validates tree-based approach over linear models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System resilient to Light sensor failure (only 1.02% F1 drop)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Limitations: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Single building type (office, Feb 2015)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No seasonal variation tested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Binary occupancy only (no count estimation)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Limited sensor types (no motion/WiFi)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Future Directions: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LSTM/GRU for sequential temporal patterns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Multi-building transfer learning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Sensor fusion (motion, door, WiFi presence)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Edge deployment for real-time IoT inference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Differential privacy for occupant protection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Occupancy count prediction (multi-class)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D4EEE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 Questions Answered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RQ1: Gradient Boosting is the most effective model (F1=0.9843, best precision-recall balance, CV stability ±0.0046).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RQ2: Daytime-trained model generalises to nighttime with 99.72% accuracy — sensor signals are time-invariant for occupancy.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RQ3: SHAP reveals non-linear CO2 dependence and confirms Light as dominant sensor through feature interaction analysis.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45720"/>
          </a:xfrm>
          <a:prstGeom prst="rect">
            <a:avLst/>
          </a:prstGeom>
          <a:solidFill>
            <a:srgbClr val="2D8B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Candanedo, L.M. and Feldheim, V. (2016) 'Accurate occupancy detection of an office room from light, temperature, humidity and CO2 measurements using statistical learning models', Energy and Buildings, 112, pp. 28–39.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Friedman, J.H. (2001) 'Greedy function approximation: A gradient boosting machine', Annals of Statistics, 29(5), pp. 1189–1232.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Cover, T. and Hart, P. (1967) 'Nearest neighbor pattern classification', IEEE Transactions on Information Theory, 13(1), pp. 21–27.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Lundberg, S.M. and Lee, S.I. (2017) 'A unified approach to interpreting model predictions', Advances in Neural Information Processing Systems, 30, pp. 4765–4774.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Pedregosa, F. et al. (2011) 'Scikit-learn: Machine Learning in Python', Journal of Machine Learning Research, 12, pp. 2825–2830.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Hosmer, D.W., Lemeshow, S. and Sturdivant, R.X. (2013) Applied Logistic Regression. 3rd edn. Hoboken: John Wiley &amp; Sons.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UCI Machine Learning Repository (2015) Occupancy Detection Data Set. Available at: https://archive.ics.uci.edu/ml/datasets/Occupancy+Detection (Accessed: January 2026).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Dua, D. and Graff, C. (2019) UCI Machine Learning Repository. Irvine, CA: University of California, School of Information and Computer Science.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Smart Building Occupancy Detection  |  Anu Bhukya  |  University of Hertfordshire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/>
  <dc:creator>Anu Pc</dc:creator>
  <cp:lastModifiedBy>Anu Pc</cp:lastModifiedBy>
  <cp:revision>1</cp:revision>
  <dcterms:created xsi:type="dcterms:W3CDTF">2026-03-12T23:41:46Z</dcterms:created>
  <dcterms:modified xsi:type="dcterms:W3CDTF">2026-03-12T23:41:46Z</dcterms:modified>
</cp:coreProperties>
</file>